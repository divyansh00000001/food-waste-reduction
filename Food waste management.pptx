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Default Extension="jpg" ContentType="image/jpg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</p:sldIdLst>
  <p:sldSz cx="10058400" cy="7772400"/>
  <p:notesSz cx="10058400" cy="7772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50" b="0" i="0">
                <a:solidFill>
                  <a:srgbClr val="235650"/>
                </a:solidFill>
                <a:latin typeface="Lucida Sans Unicode"/>
                <a:cs typeface="Lucida Sans Unicode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0F4D4D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1057655"/>
            <a:ext cx="10058400" cy="5659120"/>
          </a:xfrm>
          <a:custGeom>
            <a:avLst/>
            <a:gdLst/>
            <a:ahLst/>
            <a:cxnLst/>
            <a:rect l="l" t="t" r="r" b="b"/>
            <a:pathLst>
              <a:path w="10058400" h="5659120">
                <a:moveTo>
                  <a:pt x="10058400" y="5658611"/>
                </a:moveTo>
                <a:lnTo>
                  <a:pt x="0" y="5658611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5658611"/>
                </a:lnTo>
                <a:close/>
              </a:path>
            </a:pathLst>
          </a:custGeom>
          <a:solidFill>
            <a:srgbClr val="FBF7F2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79449" y="1055679"/>
            <a:ext cx="999648" cy="814776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959346" y="5997464"/>
            <a:ext cx="1260681" cy="718803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247601" y="3659123"/>
            <a:ext cx="810799" cy="831850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238297" y="6024371"/>
            <a:ext cx="128778" cy="128016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454515" y="6233159"/>
            <a:ext cx="88963" cy="88392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371456" y="5865876"/>
            <a:ext cx="65714" cy="67056"/>
          </a:xfrm>
          <a:prstGeom prst="rect">
            <a:avLst/>
          </a:prstGeom>
        </p:spPr>
      </p:pic>
      <p:pic>
        <p:nvPicPr>
          <p:cNvPr id="23" name="bg object 2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006458" y="6172200"/>
            <a:ext cx="72712" cy="71628"/>
          </a:xfrm>
          <a:prstGeom prst="rect">
            <a:avLst/>
          </a:prstGeom>
        </p:spPr>
      </p:pic>
      <p:pic>
        <p:nvPicPr>
          <p:cNvPr id="24" name="bg object 24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9351264" y="1908048"/>
            <a:ext cx="128778" cy="129540"/>
          </a:xfrm>
          <a:prstGeom prst="rect">
            <a:avLst/>
          </a:prstGeom>
        </p:spPr>
      </p:pic>
      <p:pic>
        <p:nvPicPr>
          <p:cNvPr id="25" name="bg object 25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9484232" y="1751076"/>
            <a:ext cx="65960" cy="65532"/>
          </a:xfrm>
          <a:prstGeom prst="rect">
            <a:avLst/>
          </a:prstGeom>
        </p:spPr>
      </p:pic>
      <p:pic>
        <p:nvPicPr>
          <p:cNvPr id="26" name="bg object 26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9567481" y="2116836"/>
            <a:ext cx="88773" cy="88392"/>
          </a:xfrm>
          <a:prstGeom prst="rect">
            <a:avLst/>
          </a:prstGeom>
        </p:spPr>
      </p:pic>
      <p:pic>
        <p:nvPicPr>
          <p:cNvPr id="27" name="bg object 27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9119235" y="2055876"/>
            <a:ext cx="72771" cy="73152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50" b="0" i="0">
                <a:solidFill>
                  <a:srgbClr val="235650"/>
                </a:solidFill>
                <a:latin typeface="Lucida Sans Unicode"/>
                <a:cs typeface="Lucida Sans Unicode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0F4D4D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50" b="0" i="0">
                <a:solidFill>
                  <a:srgbClr val="235650"/>
                </a:solidFill>
                <a:latin typeface="Lucida Sans Unicode"/>
                <a:cs typeface="Lucida Sans Unicode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50" b="0" i="0">
                <a:solidFill>
                  <a:srgbClr val="235650"/>
                </a:solidFill>
                <a:latin typeface="Lucida Sans Unicode"/>
                <a:cs typeface="Lucida Sans Unicode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057656"/>
            <a:ext cx="10058400" cy="5658611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69854" y="1309979"/>
            <a:ext cx="1499870" cy="4279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50" b="0" i="0">
                <a:solidFill>
                  <a:srgbClr val="235650"/>
                </a:solidFill>
                <a:latin typeface="Lucida Sans Unicode"/>
                <a:cs typeface="Lucida Sans Unicode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69852" y="2561296"/>
            <a:ext cx="4886960" cy="36436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0F4D4D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784860" y="1652016"/>
            <a:ext cx="8490585" cy="4441190"/>
          </a:xfrm>
          <a:prstGeom prst="rect">
            <a:avLst/>
          </a:prstGeom>
          <a:ln w="21336">
            <a:solidFill>
              <a:srgbClr val="FBF7F2"/>
            </a:solidFill>
          </a:ln>
        </p:spPr>
        <p:txBody>
          <a:bodyPr wrap="square" lIns="0" tIns="3314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2610"/>
              </a:spcBef>
            </a:pPr>
            <a:endParaRPr sz="4400">
              <a:latin typeface="Times New Roman"/>
              <a:cs typeface="Times New Roman"/>
            </a:endParaRPr>
          </a:p>
          <a:p>
            <a:pPr algn="ctr" marR="29209">
              <a:lnSpc>
                <a:spcPct val="100000"/>
              </a:lnSpc>
            </a:pPr>
            <a:r>
              <a:rPr dirty="0" sz="4400" spc="-280" b="1">
                <a:solidFill>
                  <a:srgbClr val="281C08"/>
                </a:solidFill>
                <a:latin typeface="Arial"/>
                <a:cs typeface="Arial"/>
              </a:rPr>
              <a:t>Food</a:t>
            </a:r>
            <a:r>
              <a:rPr dirty="0" sz="4400" spc="-75" b="1">
                <a:solidFill>
                  <a:srgbClr val="281C08"/>
                </a:solidFill>
                <a:latin typeface="Arial"/>
                <a:cs typeface="Arial"/>
              </a:rPr>
              <a:t> </a:t>
            </a:r>
            <a:r>
              <a:rPr dirty="0" sz="4400" spc="-155" b="1">
                <a:solidFill>
                  <a:srgbClr val="281C08"/>
                </a:solidFill>
                <a:latin typeface="Arial"/>
                <a:cs typeface="Arial"/>
              </a:rPr>
              <a:t>Waste</a:t>
            </a:r>
            <a:r>
              <a:rPr dirty="0" sz="4400" spc="-145" b="1">
                <a:solidFill>
                  <a:srgbClr val="281C08"/>
                </a:solidFill>
                <a:latin typeface="Arial"/>
                <a:cs typeface="Arial"/>
              </a:rPr>
              <a:t> </a:t>
            </a:r>
            <a:r>
              <a:rPr dirty="0" sz="4400" spc="-90" b="1">
                <a:solidFill>
                  <a:srgbClr val="281C08"/>
                </a:solidFill>
                <a:latin typeface="Arial"/>
                <a:cs typeface="Arial"/>
              </a:rPr>
              <a:t>Reduction</a:t>
            </a:r>
            <a:endParaRPr sz="4400">
              <a:latin typeface="Arial"/>
              <a:cs typeface="Arial"/>
            </a:endParaRPr>
          </a:p>
          <a:p>
            <a:pPr algn="ctr" marR="191135">
              <a:lnSpc>
                <a:spcPct val="100000"/>
              </a:lnSpc>
              <a:spcBef>
                <a:spcPts val="2165"/>
              </a:spcBef>
            </a:pPr>
            <a:r>
              <a:rPr dirty="0" sz="1950" spc="-50" b="1">
                <a:solidFill>
                  <a:srgbClr val="281C08"/>
                </a:solidFill>
                <a:latin typeface="Georgia"/>
                <a:cs typeface="Georgia"/>
              </a:rPr>
              <a:t>TEAM</a:t>
            </a:r>
            <a:r>
              <a:rPr dirty="0" sz="1950" spc="-10" b="1">
                <a:solidFill>
                  <a:srgbClr val="281C08"/>
                </a:solidFill>
                <a:latin typeface="Georgia"/>
                <a:cs typeface="Georgia"/>
              </a:rPr>
              <a:t> </a:t>
            </a:r>
            <a:r>
              <a:rPr dirty="0" sz="1950" spc="-350" b="1">
                <a:solidFill>
                  <a:srgbClr val="281C08"/>
                </a:solidFill>
                <a:latin typeface="Georgia"/>
                <a:cs typeface="Georgia"/>
              </a:rPr>
              <a:t>-</a:t>
            </a:r>
            <a:r>
              <a:rPr dirty="0" sz="1950" spc="60" b="1">
                <a:solidFill>
                  <a:srgbClr val="281C08"/>
                </a:solidFill>
                <a:latin typeface="Georgia"/>
                <a:cs typeface="Georgia"/>
              </a:rPr>
              <a:t> </a:t>
            </a:r>
            <a:r>
              <a:rPr dirty="0" sz="1950" b="1">
                <a:solidFill>
                  <a:srgbClr val="281C08"/>
                </a:solidFill>
                <a:latin typeface="Georgia"/>
                <a:cs typeface="Georgia"/>
              </a:rPr>
              <a:t>H</a:t>
            </a:r>
            <a:r>
              <a:rPr dirty="0" cap="small" sz="1950" b="1">
                <a:solidFill>
                  <a:srgbClr val="281C08"/>
                </a:solidFill>
                <a:latin typeface="Georgia"/>
                <a:cs typeface="Georgia"/>
              </a:rPr>
              <a:t>ack</a:t>
            </a:r>
            <a:r>
              <a:rPr dirty="0" sz="1950" spc="20" b="1">
                <a:solidFill>
                  <a:srgbClr val="281C08"/>
                </a:solidFill>
                <a:latin typeface="Georgia"/>
                <a:cs typeface="Georgia"/>
              </a:rPr>
              <a:t> </a:t>
            </a:r>
            <a:r>
              <a:rPr dirty="0" sz="1950" spc="-10" b="1">
                <a:solidFill>
                  <a:srgbClr val="281C08"/>
                </a:solidFill>
                <a:latin typeface="Georgia"/>
                <a:cs typeface="Georgia"/>
              </a:rPr>
              <a:t>H</a:t>
            </a:r>
            <a:r>
              <a:rPr dirty="0" cap="small" sz="1950" spc="-10" b="1">
                <a:solidFill>
                  <a:srgbClr val="281C08"/>
                </a:solidFill>
                <a:latin typeface="Georgia"/>
                <a:cs typeface="Georgia"/>
              </a:rPr>
              <a:t>unters</a:t>
            </a:r>
            <a:endParaRPr sz="1950">
              <a:latin typeface="Georgia"/>
              <a:cs typeface="Georgia"/>
            </a:endParaRPr>
          </a:p>
          <a:p>
            <a:pPr marL="3555365" indent="-314325">
              <a:lnSpc>
                <a:spcPct val="100000"/>
              </a:lnSpc>
              <a:spcBef>
                <a:spcPts val="1735"/>
              </a:spcBef>
              <a:buFont typeface="Wingdings"/>
              <a:buChar char=""/>
              <a:tabLst>
                <a:tab pos="3555365" algn="l"/>
              </a:tabLst>
            </a:pPr>
            <a:r>
              <a:rPr dirty="0" sz="1750">
                <a:solidFill>
                  <a:srgbClr val="281C08"/>
                </a:solidFill>
                <a:latin typeface="Times New Roman"/>
                <a:cs typeface="Times New Roman"/>
              </a:rPr>
              <a:t>Leader:</a:t>
            </a:r>
            <a:r>
              <a:rPr dirty="0" sz="1750" spc="10">
                <a:solidFill>
                  <a:srgbClr val="281C08"/>
                </a:solidFill>
                <a:latin typeface="Times New Roman"/>
                <a:cs typeface="Times New Roman"/>
              </a:rPr>
              <a:t> </a:t>
            </a:r>
            <a:r>
              <a:rPr dirty="0" sz="1750" spc="-10">
                <a:solidFill>
                  <a:srgbClr val="281C08"/>
                </a:solidFill>
                <a:latin typeface="Times New Roman"/>
                <a:cs typeface="Times New Roman"/>
              </a:rPr>
              <a:t>Divyansh</a:t>
            </a:r>
            <a:endParaRPr sz="1750">
              <a:latin typeface="Times New Roman"/>
              <a:cs typeface="Times New Roman"/>
            </a:endParaRPr>
          </a:p>
          <a:p>
            <a:pPr marL="3555365" indent="-314325">
              <a:lnSpc>
                <a:spcPct val="100000"/>
              </a:lnSpc>
              <a:spcBef>
                <a:spcPts val="10"/>
              </a:spcBef>
              <a:buFont typeface="Wingdings"/>
              <a:buChar char=""/>
              <a:tabLst>
                <a:tab pos="3555365" algn="l"/>
              </a:tabLst>
            </a:pPr>
            <a:r>
              <a:rPr dirty="0" sz="1750">
                <a:solidFill>
                  <a:srgbClr val="281C08"/>
                </a:solidFill>
                <a:latin typeface="Times New Roman"/>
                <a:cs typeface="Times New Roman"/>
              </a:rPr>
              <a:t>Team</a:t>
            </a:r>
            <a:r>
              <a:rPr dirty="0" sz="1750" spc="145">
                <a:solidFill>
                  <a:srgbClr val="281C08"/>
                </a:solidFill>
                <a:latin typeface="Times New Roman"/>
                <a:cs typeface="Times New Roman"/>
              </a:rPr>
              <a:t> </a:t>
            </a:r>
            <a:r>
              <a:rPr dirty="0" sz="1750" spc="-10">
                <a:solidFill>
                  <a:srgbClr val="281C08"/>
                </a:solidFill>
                <a:latin typeface="Times New Roman"/>
                <a:cs typeface="Times New Roman"/>
              </a:rPr>
              <a:t>Members:</a:t>
            </a:r>
            <a:endParaRPr sz="1750">
              <a:latin typeface="Times New Roman"/>
              <a:cs typeface="Times New Roman"/>
            </a:endParaRPr>
          </a:p>
          <a:p>
            <a:pPr marL="3555365" indent="-314325">
              <a:lnSpc>
                <a:spcPct val="100000"/>
              </a:lnSpc>
              <a:spcBef>
                <a:spcPts val="15"/>
              </a:spcBef>
              <a:buFont typeface="Wingdings"/>
              <a:buChar char=""/>
              <a:tabLst>
                <a:tab pos="3555365" algn="l"/>
              </a:tabLst>
            </a:pPr>
            <a:r>
              <a:rPr dirty="0" sz="1750">
                <a:solidFill>
                  <a:srgbClr val="281C08"/>
                </a:solidFill>
                <a:latin typeface="Times New Roman"/>
                <a:cs typeface="Times New Roman"/>
              </a:rPr>
              <a:t>Mohit</a:t>
            </a:r>
            <a:r>
              <a:rPr dirty="0" sz="1750" spc="-45">
                <a:solidFill>
                  <a:srgbClr val="281C08"/>
                </a:solidFill>
                <a:latin typeface="Times New Roman"/>
                <a:cs typeface="Times New Roman"/>
              </a:rPr>
              <a:t> </a:t>
            </a:r>
            <a:r>
              <a:rPr dirty="0" sz="1750" spc="-10">
                <a:solidFill>
                  <a:srgbClr val="281C08"/>
                </a:solidFill>
                <a:latin typeface="Times New Roman"/>
                <a:cs typeface="Times New Roman"/>
              </a:rPr>
              <a:t>Sharma</a:t>
            </a:r>
            <a:endParaRPr sz="1750">
              <a:latin typeface="Times New Roman"/>
              <a:cs typeface="Times New Roman"/>
            </a:endParaRPr>
          </a:p>
          <a:p>
            <a:pPr marL="3555365" indent="-314325">
              <a:lnSpc>
                <a:spcPct val="100000"/>
              </a:lnSpc>
              <a:spcBef>
                <a:spcPts val="10"/>
              </a:spcBef>
              <a:buFont typeface="Wingdings"/>
              <a:buChar char=""/>
              <a:tabLst>
                <a:tab pos="3555365" algn="l"/>
              </a:tabLst>
            </a:pPr>
            <a:r>
              <a:rPr dirty="0" sz="1750">
                <a:solidFill>
                  <a:srgbClr val="281C08"/>
                </a:solidFill>
                <a:latin typeface="Times New Roman"/>
                <a:cs typeface="Times New Roman"/>
              </a:rPr>
              <a:t>Aman</a:t>
            </a:r>
            <a:r>
              <a:rPr dirty="0" sz="1750" spc="-5">
                <a:solidFill>
                  <a:srgbClr val="281C08"/>
                </a:solidFill>
                <a:latin typeface="Times New Roman"/>
                <a:cs typeface="Times New Roman"/>
              </a:rPr>
              <a:t> </a:t>
            </a:r>
            <a:r>
              <a:rPr dirty="0" sz="1750" spc="-10">
                <a:solidFill>
                  <a:srgbClr val="281C08"/>
                </a:solidFill>
                <a:latin typeface="Times New Roman"/>
                <a:cs typeface="Times New Roman"/>
              </a:rPr>
              <a:t>Pathania</a:t>
            </a:r>
            <a:endParaRPr sz="1750">
              <a:latin typeface="Times New Roman"/>
              <a:cs typeface="Times New Roman"/>
            </a:endParaRPr>
          </a:p>
          <a:p>
            <a:pPr marL="3555365" indent="-314325">
              <a:lnSpc>
                <a:spcPct val="100000"/>
              </a:lnSpc>
              <a:spcBef>
                <a:spcPts val="10"/>
              </a:spcBef>
              <a:buFont typeface="Wingdings"/>
              <a:buChar char=""/>
              <a:tabLst>
                <a:tab pos="3555365" algn="l"/>
              </a:tabLst>
            </a:pPr>
            <a:r>
              <a:rPr dirty="0" sz="1750">
                <a:solidFill>
                  <a:srgbClr val="281C08"/>
                </a:solidFill>
                <a:latin typeface="Times New Roman"/>
                <a:cs typeface="Times New Roman"/>
              </a:rPr>
              <a:t>Ajendra</a:t>
            </a:r>
            <a:r>
              <a:rPr dirty="0" sz="1750" spc="-85">
                <a:solidFill>
                  <a:srgbClr val="281C08"/>
                </a:solidFill>
                <a:latin typeface="Times New Roman"/>
                <a:cs typeface="Times New Roman"/>
              </a:rPr>
              <a:t> </a:t>
            </a:r>
            <a:r>
              <a:rPr dirty="0" sz="1750" spc="-20">
                <a:solidFill>
                  <a:srgbClr val="281C08"/>
                </a:solidFill>
                <a:latin typeface="Times New Roman"/>
                <a:cs typeface="Times New Roman"/>
              </a:rPr>
              <a:t>Singh</a:t>
            </a:r>
            <a:endParaRPr sz="17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pc="130"/>
              <a:t>Problem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6076187" y="2228087"/>
            <a:ext cx="2769235" cy="3403600"/>
            <a:chOff x="6076187" y="2228087"/>
            <a:chExt cx="2769235" cy="3403600"/>
          </a:xfrm>
        </p:grpSpPr>
        <p:sp>
          <p:nvSpPr>
            <p:cNvPr id="4" name="object 4" descr=""/>
            <p:cNvSpPr/>
            <p:nvPr/>
          </p:nvSpPr>
          <p:spPr>
            <a:xfrm>
              <a:off x="6170676" y="2322575"/>
              <a:ext cx="2674620" cy="3308985"/>
            </a:xfrm>
            <a:custGeom>
              <a:avLst/>
              <a:gdLst/>
              <a:ahLst/>
              <a:cxnLst/>
              <a:rect l="l" t="t" r="r" b="b"/>
              <a:pathLst>
                <a:path w="2674620" h="3308985">
                  <a:moveTo>
                    <a:pt x="2375916" y="3308604"/>
                  </a:moveTo>
                  <a:lnTo>
                    <a:pt x="0" y="3078479"/>
                  </a:lnTo>
                  <a:lnTo>
                    <a:pt x="297179" y="0"/>
                  </a:lnTo>
                  <a:lnTo>
                    <a:pt x="2674619" y="228600"/>
                  </a:lnTo>
                  <a:lnTo>
                    <a:pt x="2375916" y="3308604"/>
                  </a:lnTo>
                  <a:close/>
                </a:path>
              </a:pathLst>
            </a:custGeom>
            <a:solidFill>
              <a:srgbClr val="79CFC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6086855" y="2238755"/>
              <a:ext cx="2674620" cy="3308985"/>
            </a:xfrm>
            <a:custGeom>
              <a:avLst/>
              <a:gdLst/>
              <a:ahLst/>
              <a:cxnLst/>
              <a:rect l="l" t="t" r="r" b="b"/>
              <a:pathLst>
                <a:path w="2674620" h="3308985">
                  <a:moveTo>
                    <a:pt x="2375916" y="3308604"/>
                  </a:moveTo>
                  <a:lnTo>
                    <a:pt x="0" y="3078479"/>
                  </a:lnTo>
                  <a:lnTo>
                    <a:pt x="297180" y="0"/>
                  </a:lnTo>
                  <a:lnTo>
                    <a:pt x="2674620" y="228600"/>
                  </a:lnTo>
                  <a:lnTo>
                    <a:pt x="2375916" y="3308604"/>
                  </a:lnTo>
                  <a:close/>
                </a:path>
              </a:pathLst>
            </a:custGeom>
            <a:solidFill>
              <a:srgbClr val="FBF7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6086855" y="2238755"/>
              <a:ext cx="2674620" cy="3308985"/>
            </a:xfrm>
            <a:custGeom>
              <a:avLst/>
              <a:gdLst/>
              <a:ahLst/>
              <a:cxnLst/>
              <a:rect l="l" t="t" r="r" b="b"/>
              <a:pathLst>
                <a:path w="2674620" h="3308985">
                  <a:moveTo>
                    <a:pt x="297180" y="0"/>
                  </a:moveTo>
                  <a:lnTo>
                    <a:pt x="2674620" y="228600"/>
                  </a:lnTo>
                  <a:lnTo>
                    <a:pt x="2375916" y="3308604"/>
                  </a:lnTo>
                  <a:lnTo>
                    <a:pt x="0" y="3078479"/>
                  </a:lnTo>
                  <a:lnTo>
                    <a:pt x="297180" y="0"/>
                  </a:lnTo>
                  <a:close/>
                </a:path>
              </a:pathLst>
            </a:custGeom>
            <a:ln w="21336">
              <a:solidFill>
                <a:srgbClr val="0F4D4D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39255" y="2426207"/>
              <a:ext cx="2377440" cy="2959608"/>
            </a:xfrm>
            <a:prstGeom prst="rect">
              <a:avLst/>
            </a:prstGeom>
          </p:spPr>
        </p:pic>
        <p:sp>
          <p:nvSpPr>
            <p:cNvPr id="8" name="object 8" descr=""/>
            <p:cNvSpPr/>
            <p:nvPr/>
          </p:nvSpPr>
          <p:spPr>
            <a:xfrm>
              <a:off x="6233160" y="2417063"/>
              <a:ext cx="2391410" cy="2976880"/>
            </a:xfrm>
            <a:custGeom>
              <a:avLst/>
              <a:gdLst/>
              <a:ahLst/>
              <a:cxnLst/>
              <a:rect l="l" t="t" r="r" b="b"/>
              <a:pathLst>
                <a:path w="2391409" h="2976879">
                  <a:moveTo>
                    <a:pt x="272795" y="0"/>
                  </a:moveTo>
                  <a:lnTo>
                    <a:pt x="2391155" y="210312"/>
                  </a:lnTo>
                  <a:lnTo>
                    <a:pt x="2116835" y="2976371"/>
                  </a:lnTo>
                  <a:lnTo>
                    <a:pt x="0" y="2766059"/>
                  </a:lnTo>
                  <a:lnTo>
                    <a:pt x="272795" y="0"/>
                  </a:lnTo>
                  <a:close/>
                </a:path>
              </a:pathLst>
            </a:custGeom>
            <a:ln w="21336">
              <a:solidFill>
                <a:srgbClr val="0F4D4D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/>
          <p:nvPr/>
        </p:nvSpPr>
        <p:spPr>
          <a:xfrm>
            <a:off x="5456619" y="2008137"/>
            <a:ext cx="332740" cy="2101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200" spc="-20">
                <a:solidFill>
                  <a:srgbClr val="0F4D4D"/>
                </a:solidFill>
                <a:latin typeface="Arial MT"/>
                <a:cs typeface="Arial MT"/>
              </a:rPr>
              <a:t>poor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369852" y="2008137"/>
            <a:ext cx="5005705" cy="3949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01295" marR="5080" indent="-189230">
              <a:lnSpc>
                <a:spcPct val="100800"/>
              </a:lnSpc>
              <a:spcBef>
                <a:spcPts val="100"/>
              </a:spcBef>
              <a:buFont typeface="Wingdings"/>
              <a:buChar char=""/>
              <a:tabLst>
                <a:tab pos="201295" algn="l"/>
              </a:tabLst>
            </a:pPr>
            <a:r>
              <a:rPr dirty="0" sz="1200">
                <a:solidFill>
                  <a:srgbClr val="0F4D4D"/>
                </a:solidFill>
                <a:latin typeface="Arial MT"/>
                <a:cs typeface="Arial MT"/>
              </a:rPr>
              <a:t>Households</a:t>
            </a:r>
            <a:r>
              <a:rPr dirty="0" sz="1200" spc="95">
                <a:solidFill>
                  <a:srgbClr val="0F4D4D"/>
                </a:solidFill>
                <a:latin typeface="Arial MT"/>
                <a:cs typeface="Arial MT"/>
              </a:rPr>
              <a:t>  </a:t>
            </a:r>
            <a:r>
              <a:rPr dirty="0" sz="1200">
                <a:solidFill>
                  <a:srgbClr val="0F4D4D"/>
                </a:solidFill>
                <a:latin typeface="Arial MT"/>
                <a:cs typeface="Arial MT"/>
              </a:rPr>
              <a:t>&amp;</a:t>
            </a:r>
            <a:r>
              <a:rPr dirty="0" sz="1200" spc="85">
                <a:solidFill>
                  <a:srgbClr val="0F4D4D"/>
                </a:solidFill>
                <a:latin typeface="Arial MT"/>
                <a:cs typeface="Arial MT"/>
              </a:rPr>
              <a:t>  </a:t>
            </a:r>
            <a:r>
              <a:rPr dirty="0" sz="1200">
                <a:solidFill>
                  <a:srgbClr val="0F4D4D"/>
                </a:solidFill>
                <a:latin typeface="Arial MT"/>
                <a:cs typeface="Arial MT"/>
              </a:rPr>
              <a:t>restaurants</a:t>
            </a:r>
            <a:r>
              <a:rPr dirty="0" sz="1200" spc="100">
                <a:solidFill>
                  <a:srgbClr val="0F4D4D"/>
                </a:solidFill>
                <a:latin typeface="Arial MT"/>
                <a:cs typeface="Arial MT"/>
              </a:rPr>
              <a:t>  </a:t>
            </a:r>
            <a:r>
              <a:rPr dirty="0" sz="1200">
                <a:solidFill>
                  <a:srgbClr val="0F4D4D"/>
                </a:solidFill>
                <a:latin typeface="Arial MT"/>
                <a:cs typeface="Arial MT"/>
              </a:rPr>
              <a:t>waste</a:t>
            </a:r>
            <a:r>
              <a:rPr dirty="0" sz="1200" spc="90">
                <a:solidFill>
                  <a:srgbClr val="0F4D4D"/>
                </a:solidFill>
                <a:latin typeface="Arial MT"/>
                <a:cs typeface="Arial MT"/>
              </a:rPr>
              <a:t>  </a:t>
            </a:r>
            <a:r>
              <a:rPr dirty="0" sz="1200">
                <a:solidFill>
                  <a:srgbClr val="0F4D4D"/>
                </a:solidFill>
                <a:latin typeface="Arial MT"/>
                <a:cs typeface="Arial MT"/>
              </a:rPr>
              <a:t>large</a:t>
            </a:r>
            <a:r>
              <a:rPr dirty="0" sz="1200" spc="95">
                <a:solidFill>
                  <a:srgbClr val="0F4D4D"/>
                </a:solidFill>
                <a:latin typeface="Arial MT"/>
                <a:cs typeface="Arial MT"/>
              </a:rPr>
              <a:t>  </a:t>
            </a:r>
            <a:r>
              <a:rPr dirty="0" sz="1200">
                <a:solidFill>
                  <a:srgbClr val="0F4D4D"/>
                </a:solidFill>
                <a:latin typeface="Arial MT"/>
                <a:cs typeface="Arial MT"/>
              </a:rPr>
              <a:t>amounts</a:t>
            </a:r>
            <a:r>
              <a:rPr dirty="0" sz="1200" spc="90">
                <a:solidFill>
                  <a:srgbClr val="0F4D4D"/>
                </a:solidFill>
                <a:latin typeface="Arial MT"/>
                <a:cs typeface="Arial MT"/>
              </a:rPr>
              <a:t>  </a:t>
            </a:r>
            <a:r>
              <a:rPr dirty="0" sz="1200">
                <a:solidFill>
                  <a:srgbClr val="0F4D4D"/>
                </a:solidFill>
                <a:latin typeface="Arial MT"/>
                <a:cs typeface="Arial MT"/>
              </a:rPr>
              <a:t>of</a:t>
            </a:r>
            <a:r>
              <a:rPr dirty="0" sz="1200" spc="85">
                <a:solidFill>
                  <a:srgbClr val="0F4D4D"/>
                </a:solidFill>
                <a:latin typeface="Arial MT"/>
                <a:cs typeface="Arial MT"/>
              </a:rPr>
              <a:t>  </a:t>
            </a:r>
            <a:r>
              <a:rPr dirty="0" sz="1200">
                <a:solidFill>
                  <a:srgbClr val="0F4D4D"/>
                </a:solidFill>
                <a:latin typeface="Arial MT"/>
                <a:cs typeface="Arial MT"/>
              </a:rPr>
              <a:t>food</a:t>
            </a:r>
            <a:r>
              <a:rPr dirty="0" sz="1200" spc="85">
                <a:solidFill>
                  <a:srgbClr val="0F4D4D"/>
                </a:solidFill>
                <a:latin typeface="Arial MT"/>
                <a:cs typeface="Arial MT"/>
              </a:rPr>
              <a:t>  </a:t>
            </a:r>
            <a:r>
              <a:rPr dirty="0" sz="1200">
                <a:solidFill>
                  <a:srgbClr val="0F4D4D"/>
                </a:solidFill>
                <a:latin typeface="Arial MT"/>
                <a:cs typeface="Arial MT"/>
              </a:rPr>
              <a:t>due</a:t>
            </a:r>
            <a:r>
              <a:rPr dirty="0" sz="1200" spc="95">
                <a:solidFill>
                  <a:srgbClr val="0F4D4D"/>
                </a:solidFill>
                <a:latin typeface="Arial MT"/>
                <a:cs typeface="Arial MT"/>
              </a:rPr>
              <a:t>  </a:t>
            </a:r>
            <a:r>
              <a:rPr dirty="0" sz="1200" spc="-25">
                <a:solidFill>
                  <a:srgbClr val="0F4D4D"/>
                </a:solidFill>
                <a:latin typeface="Arial MT"/>
                <a:cs typeface="Arial MT"/>
              </a:rPr>
              <a:t>to </a:t>
            </a:r>
            <a:r>
              <a:rPr dirty="0" sz="1200">
                <a:solidFill>
                  <a:srgbClr val="0F4D4D"/>
                </a:solidFill>
                <a:latin typeface="Arial MT"/>
                <a:cs typeface="Arial MT"/>
              </a:rPr>
              <a:t>inventory</a:t>
            </a:r>
            <a:r>
              <a:rPr dirty="0" sz="1200" spc="160">
                <a:solidFill>
                  <a:srgbClr val="0F4D4D"/>
                </a:solidFill>
                <a:latin typeface="Arial MT"/>
                <a:cs typeface="Arial MT"/>
              </a:rPr>
              <a:t>  </a:t>
            </a:r>
            <a:r>
              <a:rPr dirty="0" sz="1200" spc="-10">
                <a:solidFill>
                  <a:srgbClr val="0F4D4D"/>
                </a:solidFill>
                <a:latin typeface="Arial MT"/>
                <a:cs typeface="Arial MT"/>
              </a:rPr>
              <a:t>tracking.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1" name="object 11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201295" indent="-188595">
              <a:lnSpc>
                <a:spcPct val="100000"/>
              </a:lnSpc>
              <a:spcBef>
                <a:spcPts val="110"/>
              </a:spcBef>
              <a:buFont typeface="Wingdings"/>
              <a:buChar char=""/>
              <a:tabLst>
                <a:tab pos="201295" algn="l"/>
              </a:tabLst>
            </a:pPr>
            <a:r>
              <a:rPr dirty="0"/>
              <a:t>Lack</a:t>
            </a:r>
            <a:r>
              <a:rPr dirty="0" spc="5"/>
              <a:t> </a:t>
            </a:r>
            <a:r>
              <a:rPr dirty="0"/>
              <a:t>of timely</a:t>
            </a:r>
            <a:r>
              <a:rPr dirty="0" spc="5"/>
              <a:t> </a:t>
            </a:r>
            <a:r>
              <a:rPr dirty="0"/>
              <a:t>reminders</a:t>
            </a:r>
            <a:r>
              <a:rPr dirty="0" spc="-30"/>
              <a:t> </a:t>
            </a:r>
            <a:r>
              <a:rPr dirty="0"/>
              <a:t>leads</a:t>
            </a:r>
            <a:r>
              <a:rPr dirty="0" spc="20"/>
              <a:t> </a:t>
            </a:r>
            <a:r>
              <a:rPr dirty="0"/>
              <a:t>to</a:t>
            </a:r>
            <a:r>
              <a:rPr dirty="0" spc="-15"/>
              <a:t> </a:t>
            </a:r>
            <a:r>
              <a:rPr dirty="0"/>
              <a:t>expiry</a:t>
            </a:r>
            <a:r>
              <a:rPr dirty="0" spc="10"/>
              <a:t> </a:t>
            </a:r>
            <a:r>
              <a:rPr dirty="0"/>
              <a:t>and</a:t>
            </a:r>
            <a:r>
              <a:rPr dirty="0" spc="-10"/>
              <a:t> </a:t>
            </a:r>
            <a:r>
              <a:rPr dirty="0"/>
              <a:t>unnecessary</a:t>
            </a:r>
            <a:r>
              <a:rPr dirty="0" spc="-20"/>
              <a:t> </a:t>
            </a:r>
            <a:r>
              <a:rPr dirty="0" spc="-10"/>
              <a:t>disposal.</a:t>
            </a:r>
          </a:p>
          <a:p>
            <a:pPr>
              <a:lnSpc>
                <a:spcPct val="100000"/>
              </a:lnSpc>
              <a:spcBef>
                <a:spcPts val="85"/>
              </a:spcBef>
              <a:buClr>
                <a:srgbClr val="0F4D4D"/>
              </a:buClr>
              <a:buFont typeface="Wingdings"/>
              <a:buChar char=""/>
            </a:pPr>
          </a:p>
          <a:p>
            <a:pPr marL="201295" indent="-188595">
              <a:lnSpc>
                <a:spcPct val="100000"/>
              </a:lnSpc>
              <a:buFont typeface="Wingdings"/>
              <a:buChar char=""/>
              <a:tabLst>
                <a:tab pos="201295" algn="l"/>
              </a:tabLst>
            </a:pPr>
            <a:r>
              <a:rPr dirty="0"/>
              <a:t>Overbuying</a:t>
            </a:r>
            <a:r>
              <a:rPr dirty="0" spc="5"/>
              <a:t> </a:t>
            </a:r>
            <a:r>
              <a:rPr dirty="0"/>
              <a:t>without</a:t>
            </a:r>
            <a:r>
              <a:rPr dirty="0" spc="20"/>
              <a:t> </a:t>
            </a:r>
            <a:r>
              <a:rPr dirty="0"/>
              <a:t>planning</a:t>
            </a:r>
            <a:r>
              <a:rPr dirty="0" spc="30"/>
              <a:t> </a:t>
            </a:r>
            <a:r>
              <a:rPr dirty="0"/>
              <a:t>contributes</a:t>
            </a:r>
            <a:r>
              <a:rPr dirty="0" spc="-25"/>
              <a:t> </a:t>
            </a:r>
            <a:r>
              <a:rPr dirty="0"/>
              <a:t>to</a:t>
            </a:r>
            <a:r>
              <a:rPr dirty="0" spc="-15"/>
              <a:t> </a:t>
            </a:r>
            <a:r>
              <a:rPr dirty="0"/>
              <a:t>waste</a:t>
            </a:r>
            <a:r>
              <a:rPr dirty="0" spc="10"/>
              <a:t> </a:t>
            </a:r>
            <a:r>
              <a:rPr dirty="0"/>
              <a:t>and</a:t>
            </a:r>
            <a:r>
              <a:rPr dirty="0" spc="-10"/>
              <a:t> </a:t>
            </a:r>
            <a:r>
              <a:rPr dirty="0"/>
              <a:t>financial</a:t>
            </a:r>
            <a:r>
              <a:rPr dirty="0" spc="15"/>
              <a:t> </a:t>
            </a:r>
            <a:r>
              <a:rPr dirty="0" spc="-10"/>
              <a:t>loss.</a:t>
            </a:r>
          </a:p>
          <a:p>
            <a:pPr>
              <a:lnSpc>
                <a:spcPct val="100000"/>
              </a:lnSpc>
              <a:spcBef>
                <a:spcPts val="85"/>
              </a:spcBef>
              <a:buClr>
                <a:srgbClr val="0F4D4D"/>
              </a:buClr>
              <a:buFont typeface="Wingdings"/>
              <a:buChar char=""/>
            </a:pPr>
          </a:p>
          <a:p>
            <a:pPr marL="201295" indent="-188595">
              <a:lnSpc>
                <a:spcPct val="100000"/>
              </a:lnSpc>
              <a:buFont typeface="Wingdings"/>
              <a:buChar char=""/>
              <a:tabLst>
                <a:tab pos="201295" algn="l"/>
              </a:tabLst>
            </a:pPr>
            <a:r>
              <a:rPr dirty="0"/>
              <a:t>Limited</a:t>
            </a:r>
            <a:r>
              <a:rPr dirty="0" spc="10"/>
              <a:t> </a:t>
            </a:r>
            <a:r>
              <a:rPr dirty="0"/>
              <a:t>awareness</a:t>
            </a:r>
            <a:r>
              <a:rPr dirty="0" spc="20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sustainable food </a:t>
            </a:r>
            <a:r>
              <a:rPr dirty="0" spc="-10"/>
              <a:t>usage.</a:t>
            </a:r>
          </a:p>
          <a:p>
            <a:pPr>
              <a:lnSpc>
                <a:spcPct val="100000"/>
              </a:lnSpc>
              <a:spcBef>
                <a:spcPts val="575"/>
              </a:spcBef>
              <a:buClr>
                <a:srgbClr val="0F4D4D"/>
              </a:buClr>
              <a:buFont typeface="Wingdings"/>
              <a:buChar char=""/>
            </a:p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2650" spc="90">
                <a:solidFill>
                  <a:srgbClr val="235650"/>
                </a:solidFill>
                <a:latin typeface="Lucida Sans Unicode"/>
                <a:cs typeface="Lucida Sans Unicode"/>
              </a:rPr>
              <a:t>Solution</a:t>
            </a:r>
            <a:endParaRPr sz="2650">
              <a:latin typeface="Lucida Sans Unicode"/>
              <a:cs typeface="Lucida Sans Unicode"/>
            </a:endParaRPr>
          </a:p>
          <a:p>
            <a:pPr marL="201295" indent="-188595">
              <a:lnSpc>
                <a:spcPct val="100000"/>
              </a:lnSpc>
              <a:spcBef>
                <a:spcPts val="2130"/>
              </a:spcBef>
              <a:buFont typeface="Wingdings"/>
              <a:buChar char=""/>
              <a:tabLst>
                <a:tab pos="201295" algn="l"/>
              </a:tabLst>
            </a:pPr>
            <a:r>
              <a:rPr dirty="0" b="1">
                <a:latin typeface="Arial"/>
                <a:cs typeface="Arial"/>
              </a:rPr>
              <a:t>Inventory</a:t>
            </a:r>
            <a:r>
              <a:rPr dirty="0" spc="-10" b="1">
                <a:latin typeface="Arial"/>
                <a:cs typeface="Arial"/>
              </a:rPr>
              <a:t> </a:t>
            </a:r>
            <a:r>
              <a:rPr dirty="0" b="1">
                <a:latin typeface="Arial"/>
                <a:cs typeface="Arial"/>
              </a:rPr>
              <a:t>Management:</a:t>
            </a:r>
            <a:r>
              <a:rPr dirty="0" spc="-20" b="1">
                <a:latin typeface="Arial"/>
                <a:cs typeface="Arial"/>
              </a:rPr>
              <a:t> </a:t>
            </a:r>
            <a:r>
              <a:rPr dirty="0"/>
              <a:t>Digital</a:t>
            </a:r>
            <a:r>
              <a:rPr dirty="0" spc="35"/>
              <a:t> </a:t>
            </a:r>
            <a:r>
              <a:rPr dirty="0"/>
              <a:t>pantry</a:t>
            </a:r>
            <a:r>
              <a:rPr dirty="0" spc="-25"/>
              <a:t> </a:t>
            </a:r>
            <a:r>
              <a:rPr dirty="0"/>
              <a:t>to</a:t>
            </a:r>
            <a:r>
              <a:rPr dirty="0" spc="-15"/>
              <a:t> </a:t>
            </a:r>
            <a:r>
              <a:rPr dirty="0"/>
              <a:t>track</a:t>
            </a:r>
            <a:r>
              <a:rPr dirty="0" spc="-35"/>
              <a:t> </a:t>
            </a:r>
            <a:r>
              <a:rPr dirty="0"/>
              <a:t>items</a:t>
            </a:r>
            <a:r>
              <a:rPr dirty="0" spc="-15"/>
              <a:t> </a:t>
            </a:r>
            <a:r>
              <a:rPr dirty="0"/>
              <a:t>&amp;</a:t>
            </a:r>
            <a:r>
              <a:rPr dirty="0" spc="-5"/>
              <a:t> </a:t>
            </a:r>
            <a:r>
              <a:rPr dirty="0"/>
              <a:t>expiry</a:t>
            </a:r>
            <a:r>
              <a:rPr dirty="0" spc="5"/>
              <a:t> </a:t>
            </a:r>
            <a:r>
              <a:rPr dirty="0" spc="-10"/>
              <a:t>dates.</a:t>
            </a:r>
          </a:p>
          <a:p>
            <a:pPr>
              <a:lnSpc>
                <a:spcPct val="100000"/>
              </a:lnSpc>
              <a:spcBef>
                <a:spcPts val="85"/>
              </a:spcBef>
              <a:buClr>
                <a:srgbClr val="0F4D4D"/>
              </a:buClr>
              <a:buFont typeface="Wingdings"/>
              <a:buChar char=""/>
            </a:pPr>
          </a:p>
          <a:p>
            <a:pPr marL="201295" indent="-188595">
              <a:lnSpc>
                <a:spcPct val="100000"/>
              </a:lnSpc>
              <a:buFont typeface="Wingdings"/>
              <a:buChar char=""/>
              <a:tabLst>
                <a:tab pos="201295" algn="l"/>
              </a:tabLst>
            </a:pPr>
            <a:r>
              <a:rPr dirty="0" b="1">
                <a:latin typeface="Arial"/>
                <a:cs typeface="Arial"/>
              </a:rPr>
              <a:t>Expiry</a:t>
            </a:r>
            <a:r>
              <a:rPr dirty="0" spc="-15" b="1">
                <a:latin typeface="Arial"/>
                <a:cs typeface="Arial"/>
              </a:rPr>
              <a:t> </a:t>
            </a:r>
            <a:r>
              <a:rPr dirty="0" b="1">
                <a:latin typeface="Arial"/>
                <a:cs typeface="Arial"/>
              </a:rPr>
              <a:t>Alerts:</a:t>
            </a:r>
            <a:r>
              <a:rPr dirty="0" spc="20" b="1">
                <a:latin typeface="Arial"/>
                <a:cs typeface="Arial"/>
              </a:rPr>
              <a:t> </a:t>
            </a:r>
            <a:r>
              <a:rPr dirty="0"/>
              <a:t>Notifications</a:t>
            </a:r>
            <a:r>
              <a:rPr dirty="0" spc="-5"/>
              <a:t> </a:t>
            </a:r>
            <a:r>
              <a:rPr dirty="0"/>
              <a:t>before</a:t>
            </a:r>
            <a:r>
              <a:rPr dirty="0" spc="-20"/>
              <a:t> </a:t>
            </a:r>
            <a:r>
              <a:rPr dirty="0"/>
              <a:t>food</a:t>
            </a:r>
            <a:r>
              <a:rPr dirty="0" spc="-10"/>
              <a:t> spoils.</a:t>
            </a:r>
          </a:p>
          <a:p>
            <a:pPr>
              <a:lnSpc>
                <a:spcPct val="100000"/>
              </a:lnSpc>
              <a:spcBef>
                <a:spcPts val="85"/>
              </a:spcBef>
              <a:buClr>
                <a:srgbClr val="0F4D4D"/>
              </a:buClr>
              <a:buFont typeface="Wingdings"/>
              <a:buChar char=""/>
            </a:pPr>
          </a:p>
          <a:p>
            <a:pPr marL="201295" indent="-188595">
              <a:lnSpc>
                <a:spcPct val="100000"/>
              </a:lnSpc>
              <a:buFont typeface="Wingdings"/>
              <a:buChar char=""/>
              <a:tabLst>
                <a:tab pos="201295" algn="l"/>
              </a:tabLst>
            </a:pPr>
            <a:r>
              <a:rPr dirty="0" b="1">
                <a:latin typeface="Arial"/>
                <a:cs typeface="Arial"/>
              </a:rPr>
              <a:t>Recipe Suggestions:</a:t>
            </a:r>
            <a:r>
              <a:rPr dirty="0" spc="-10" b="1">
                <a:latin typeface="Arial"/>
                <a:cs typeface="Arial"/>
              </a:rPr>
              <a:t> </a:t>
            </a:r>
            <a:r>
              <a:rPr dirty="0"/>
              <a:t>Use</a:t>
            </a:r>
            <a:r>
              <a:rPr dirty="0" spc="-10"/>
              <a:t> </a:t>
            </a:r>
            <a:r>
              <a:rPr dirty="0"/>
              <a:t>up</a:t>
            </a:r>
            <a:r>
              <a:rPr dirty="0" spc="15"/>
              <a:t> </a:t>
            </a:r>
            <a:r>
              <a:rPr dirty="0"/>
              <a:t>items</a:t>
            </a:r>
            <a:r>
              <a:rPr dirty="0" spc="-10"/>
              <a:t> </a:t>
            </a:r>
            <a:r>
              <a:rPr dirty="0"/>
              <a:t>creatively</a:t>
            </a:r>
            <a:r>
              <a:rPr dirty="0" spc="-5"/>
              <a:t> </a:t>
            </a:r>
            <a:r>
              <a:rPr dirty="0"/>
              <a:t>before</a:t>
            </a:r>
            <a:r>
              <a:rPr dirty="0" spc="-25"/>
              <a:t> </a:t>
            </a:r>
            <a:r>
              <a:rPr dirty="0" spc="-10"/>
              <a:t>expiry.</a:t>
            </a:r>
          </a:p>
          <a:p>
            <a:pPr>
              <a:lnSpc>
                <a:spcPct val="100000"/>
              </a:lnSpc>
              <a:spcBef>
                <a:spcPts val="80"/>
              </a:spcBef>
              <a:buClr>
                <a:srgbClr val="0F4D4D"/>
              </a:buClr>
              <a:buFont typeface="Wingdings"/>
              <a:buChar char=""/>
            </a:pPr>
          </a:p>
          <a:p>
            <a:pPr marL="201295" indent="-188595">
              <a:lnSpc>
                <a:spcPct val="100000"/>
              </a:lnSpc>
              <a:spcBef>
                <a:spcPts val="5"/>
              </a:spcBef>
              <a:buFont typeface="Wingdings"/>
              <a:buChar char=""/>
              <a:tabLst>
                <a:tab pos="201295" algn="l"/>
              </a:tabLst>
            </a:pPr>
            <a:r>
              <a:rPr dirty="0" b="1">
                <a:latin typeface="Arial"/>
                <a:cs typeface="Arial"/>
              </a:rPr>
              <a:t>Shopping</a:t>
            </a:r>
            <a:r>
              <a:rPr dirty="0" spc="-10" b="1">
                <a:latin typeface="Arial"/>
                <a:cs typeface="Arial"/>
              </a:rPr>
              <a:t> </a:t>
            </a:r>
            <a:r>
              <a:rPr dirty="0" b="1">
                <a:latin typeface="Arial"/>
                <a:cs typeface="Arial"/>
              </a:rPr>
              <a:t>Planner: </a:t>
            </a:r>
            <a:r>
              <a:rPr dirty="0"/>
              <a:t>Smarter</a:t>
            </a:r>
            <a:r>
              <a:rPr dirty="0" spc="-30"/>
              <a:t> </a:t>
            </a:r>
            <a:r>
              <a:rPr dirty="0"/>
              <a:t>buying</a:t>
            </a:r>
            <a:r>
              <a:rPr dirty="0" spc="20"/>
              <a:t> </a:t>
            </a:r>
            <a:r>
              <a:rPr dirty="0"/>
              <a:t>decisions</a:t>
            </a:r>
            <a:r>
              <a:rPr dirty="0" spc="15"/>
              <a:t> </a:t>
            </a:r>
            <a:r>
              <a:rPr dirty="0"/>
              <a:t>to</a:t>
            </a:r>
            <a:r>
              <a:rPr dirty="0" spc="-10"/>
              <a:t> </a:t>
            </a:r>
            <a:r>
              <a:rPr dirty="0"/>
              <a:t>avoid</a:t>
            </a:r>
            <a:r>
              <a:rPr dirty="0" spc="10"/>
              <a:t> </a:t>
            </a:r>
            <a:r>
              <a:rPr dirty="0" spc="-10"/>
              <a:t>overstocking.</a:t>
            </a:r>
          </a:p>
          <a:p>
            <a:pPr>
              <a:lnSpc>
                <a:spcPct val="100000"/>
              </a:lnSpc>
              <a:spcBef>
                <a:spcPts val="75"/>
              </a:spcBef>
              <a:buClr>
                <a:srgbClr val="0F4D4D"/>
              </a:buClr>
              <a:buFont typeface="Wingdings"/>
              <a:buChar char=""/>
            </a:pPr>
          </a:p>
          <a:p>
            <a:pPr marL="201295" indent="-188595">
              <a:lnSpc>
                <a:spcPct val="100000"/>
              </a:lnSpc>
              <a:buFont typeface="Wingdings"/>
              <a:buChar char=""/>
              <a:tabLst>
                <a:tab pos="201295" algn="l"/>
              </a:tabLst>
            </a:pPr>
            <a:r>
              <a:rPr dirty="0" b="1">
                <a:latin typeface="Arial"/>
                <a:cs typeface="Arial"/>
              </a:rPr>
              <a:t>Waste</a:t>
            </a:r>
            <a:r>
              <a:rPr dirty="0" spc="-25" b="1">
                <a:latin typeface="Arial"/>
                <a:cs typeface="Arial"/>
              </a:rPr>
              <a:t> </a:t>
            </a:r>
            <a:r>
              <a:rPr dirty="0" b="1">
                <a:latin typeface="Arial"/>
                <a:cs typeface="Arial"/>
              </a:rPr>
              <a:t>Analytics:</a:t>
            </a:r>
            <a:r>
              <a:rPr dirty="0" spc="35" b="1">
                <a:latin typeface="Arial"/>
                <a:cs typeface="Arial"/>
              </a:rPr>
              <a:t> </a:t>
            </a:r>
            <a:r>
              <a:rPr dirty="0"/>
              <a:t>Track</a:t>
            </a:r>
            <a:r>
              <a:rPr dirty="0" spc="-30"/>
              <a:t> </a:t>
            </a:r>
            <a:r>
              <a:rPr dirty="0"/>
              <a:t>discarded</a:t>
            </a:r>
            <a:r>
              <a:rPr dirty="0" spc="-10"/>
              <a:t> </a:t>
            </a:r>
            <a:r>
              <a:rPr dirty="0"/>
              <a:t>food,</a:t>
            </a:r>
            <a:r>
              <a:rPr dirty="0" spc="-30"/>
              <a:t> </a:t>
            </a:r>
            <a:r>
              <a:rPr dirty="0"/>
              <a:t>analyze</a:t>
            </a:r>
            <a:r>
              <a:rPr dirty="0" spc="10"/>
              <a:t> </a:t>
            </a:r>
            <a:r>
              <a:rPr dirty="0" spc="-10"/>
              <a:t>patterns</a:t>
            </a:r>
            <a:r>
              <a:rPr dirty="0" sz="1950" spc="-10"/>
              <a:t>.</a:t>
            </a:r>
            <a:endParaRPr sz="19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Aman Pathania</dc:creator>
  <dc:title>Microsoft PowerPoint - Food waste management</dc:title>
  <dcterms:created xsi:type="dcterms:W3CDTF">2025-09-26T21:47:41Z</dcterms:created>
  <dcterms:modified xsi:type="dcterms:W3CDTF">2025-09-26T21:47:41Z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2025-09-27T00:00:00Z</vt:filetime>
  </property>
  <property fmtid="{D5CDD505-2E9C-101B-9397-08002B2CF9AE}" pid="3" name="LastSaved">
    <vt:filetime>2025-09-26T00:00:00Z</vt:filetime>
  </property>
  <property fmtid="{D5CDD505-2E9C-101B-9397-08002B2CF9AE}" pid="4" name="Producer">
    <vt:lpwstr>Microsoft: Print To PDF</vt:lpwstr>
  </property>
</Properties>
</file>